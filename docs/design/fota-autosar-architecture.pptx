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83F"/>
          </a:solidFill>
          <a:ln w="12700">
            <a:solidFill>
              <a:srgbClr val="1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876A5"/>
                </a:solidFill>
                <a:latin typeface="Yu Gothic"/>
              </a:rPr>
              <a:t>01  CLASSIC ECU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83F"/>
                </a:solidFill>
                <a:latin typeface="Yu Gothic"/>
              </a:rPr>
              <a:t>AUTOSAR Classicの層に責務を置く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96696"/>
            <a:ext cx="10972800" cy="29260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97D"/>
                </a:solidFill>
                <a:latin typeface="Yu Gothic"/>
              </a:rPr>
              <a:t>上位のSW-CはRTEポート契約に依存し、BSWから下は標準サービス・ECU抽象化・MCALで車両/ハードウェア差分を吸収する。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9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9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10241280" cy="16459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1869A"/>
                </a:solidFill>
                <a:latin typeface="Yu Gothic"/>
              </a:rPr>
              <a:t>SDV FOTA  |  AUTOSAR Classicを目標とした境界案  |  規格適合を表明するものではありません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37960"/>
            <a:ext cx="530352" cy="1737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69A"/>
                </a:solidFill>
                <a:latin typeface="Yu Gothic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858000" cy="621792"/>
          </a:xfrm>
          <a:prstGeom prst="roundRect">
            <a:avLst>
              <a:gd name="adj" fmla="val 12000"/>
            </a:avLst>
          </a:prstGeom>
          <a:solidFill>
            <a:srgbClr val="EAF3F9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64792"/>
            <a:ext cx="1572768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876A5"/>
                </a:solidFill>
                <a:latin typeface="Yu Gothic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1755648"/>
            <a:ext cx="4572000" cy="4114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B344B"/>
                </a:solidFill>
                <a:latin typeface="Yu Gothic"/>
              </a:rPr>
              <a:t>Application SW-C / Runnable / Port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2322576"/>
            <a:ext cx="0" cy="118872"/>
          </a:xfrm>
          <a:prstGeom prst="line">
            <a:avLst/>
          </a:prstGeom>
          <a:ln w="16510">
            <a:solidFill>
              <a:srgbClr val="52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2478024"/>
            <a:ext cx="6858000" cy="621792"/>
          </a:xfrm>
          <a:prstGeom prst="roundRect">
            <a:avLst>
              <a:gd name="adj" fmla="val 12000"/>
            </a:avLst>
          </a:prstGeom>
          <a:solidFill>
            <a:srgbClr val="E9F0F5"/>
          </a:solidFill>
          <a:ln w="1270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51176"/>
            <a:ext cx="1572768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876A5"/>
                </a:solidFill>
                <a:latin typeface="Yu Gothic"/>
              </a:rPr>
              <a:t>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542032"/>
            <a:ext cx="4572000" cy="4114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B344B"/>
                </a:solidFill>
                <a:latin typeface="Yu Gothic"/>
              </a:rPr>
              <a:t>生成RTE：SW-C PortとBSW/他SW-Cを接続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0" y="3108960"/>
            <a:ext cx="0" cy="118872"/>
          </a:xfrm>
          <a:prstGeom prst="line">
            <a:avLst/>
          </a:prstGeom>
          <a:ln w="16510">
            <a:solidFill>
              <a:srgbClr val="52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3264408"/>
            <a:ext cx="6858000" cy="62179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F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337560"/>
            <a:ext cx="1572768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47A58"/>
                </a:solidFill>
                <a:latin typeface="Yu Gothic"/>
              </a:rPr>
              <a:t>BSW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3328416"/>
            <a:ext cx="4572000" cy="4114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B344B"/>
                </a:solidFill>
                <a:latin typeface="Yu Gothic"/>
              </a:rPr>
              <a:t>Com / Dcm / Csm・Crypto / NvM / Dem / WdgM / EcuM / 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3895344"/>
            <a:ext cx="0" cy="118872"/>
          </a:xfrm>
          <a:prstGeom prst="line">
            <a:avLst/>
          </a:prstGeom>
          <a:ln w="16510">
            <a:solidFill>
              <a:srgbClr val="52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4050791"/>
            <a:ext cx="6858000" cy="621792"/>
          </a:xfrm>
          <a:prstGeom prst="roundRect">
            <a:avLst>
              <a:gd name="adj" fmla="val 12000"/>
            </a:avLst>
          </a:prstGeom>
          <a:solidFill>
            <a:srgbClr val="FFF5E2"/>
          </a:solidFill>
          <a:ln w="12700">
            <a:solidFill>
              <a:srgbClr val="EBD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23944"/>
            <a:ext cx="1572768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78324"/>
                </a:solidFill>
                <a:latin typeface="Yu Gothic"/>
              </a:rPr>
              <a:t>ECU ABSTRACTION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4114800"/>
            <a:ext cx="4572000" cy="4114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B344B"/>
                </a:solidFill>
                <a:latin typeface="Yu Gothic"/>
              </a:rPr>
              <a:t>ECU固有デバイスをMCAL APIから分離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4681727"/>
            <a:ext cx="0" cy="118873"/>
          </a:xfrm>
          <a:prstGeom prst="line">
            <a:avLst/>
          </a:prstGeom>
          <a:ln w="16510">
            <a:solidFill>
              <a:srgbClr val="52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4837176"/>
            <a:ext cx="6858000" cy="621792"/>
          </a:xfrm>
          <a:prstGeom prst="roundRect">
            <a:avLst>
              <a:gd name="adj" fmla="val 12000"/>
            </a:avLst>
          </a:prstGeom>
          <a:solidFill>
            <a:srgbClr val="10283F"/>
          </a:solidFill>
          <a:ln w="12700">
            <a:solidFill>
              <a:srgbClr val="1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910328"/>
            <a:ext cx="1572768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MCAL + HW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4901184"/>
            <a:ext cx="4572000" cy="4114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Fls / MCU drivers / Flash hardware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8" y="1691640"/>
            <a:ext cx="358444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901952"/>
            <a:ext cx="3063240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83F"/>
                </a:solidFill>
                <a:latin typeface="Yu Gothic"/>
              </a:rPr>
              <a:t>FOTAの配置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322576"/>
            <a:ext cx="3054096" cy="987552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B344B"/>
                </a:solidFill>
                <a:latin typeface="Yu Gothic"/>
              </a:rPr>
              <a:t>・VCU：更新キャンペーン制御
・対象ECU：OEM定義の更新BSWサービス
・Bootloader：起動バンクと復帰を独立管理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3822191"/>
            <a:ext cx="3584448" cy="1490472"/>
          </a:xfrm>
          <a:prstGeom prst="roundRect">
            <a:avLst>
              <a:gd name="adj" fmla="val 12000"/>
            </a:avLst>
          </a:prstGeom>
          <a:solidFill>
            <a:srgbClr val="FFF5E2"/>
          </a:solidFill>
          <a:ln w="12700">
            <a:solidFill>
              <a:srgbClr val="EBD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4005072"/>
            <a:ext cx="3072384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78324"/>
                </a:solidFill>
                <a:latin typeface="Yu Gothic"/>
              </a:rPr>
              <a:t>Pi 5 の扱い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4343400"/>
            <a:ext cx="3072384" cy="758952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B344B"/>
                </a:solidFill>
                <a:latin typeface="Yu Gothic"/>
              </a:rPr>
              <a:t>Linux adapterは開発・検証用。Classic OS/BSW/MCALではない。実Classic ECU化には対象をサポートするstackが必要。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870448"/>
            <a:ext cx="10872216" cy="420624"/>
          </a:xfrm>
          <a:prstGeom prst="roundRect">
            <a:avLst>
              <a:gd name="adj" fmla="val 12000"/>
            </a:avLst>
          </a:prstGeom>
          <a:solidFill>
            <a:srgbClr val="EAF3F9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888736"/>
            <a:ext cx="10515600" cy="36576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83F"/>
                </a:solidFill>
                <a:latin typeface="Yu Gothic"/>
              </a:rPr>
              <a:t>AUTOSAR ClassicはRTE / BSW / ECU Extract / 生成設定まで含む統合構造。単にtraitで抽象化するだけではClassic準拠にならない。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83F"/>
          </a:solidFill>
          <a:ln w="12700">
            <a:solidFill>
              <a:srgbClr val="1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876A5"/>
                </a:solidFill>
                <a:latin typeface="Yu Gothic"/>
              </a:rPr>
              <a:t>02  UPDATE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83F"/>
                </a:solidFill>
                <a:latin typeface="Yu Gothic"/>
              </a:rPr>
              <a:t>Classic ECUでの更新フロー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96696"/>
            <a:ext cx="10972800" cy="29260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97D"/>
                </a:solidFill>
                <a:latin typeface="Yu Gothic"/>
              </a:rPr>
              <a:t>FOTA全体はOEM/BSW vendorの統合機能。DCM・暗号・メモリサービスと独立Bootloaderの責務を明確にする。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9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9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10241280" cy="16459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1869A"/>
                </a:solidFill>
                <a:latin typeface="Yu Gothic"/>
              </a:rPr>
              <a:t>SDV FOTA  |  AUTOSAR Classicを目標とした境界案  |  規格適合を表明するものではありません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37960"/>
            <a:ext cx="530352" cy="1737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69A"/>
                </a:solidFill>
                <a:latin typeface="Yu Gothic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74519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EAF3F9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93392"/>
            <a:ext cx="160020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876A5"/>
                </a:solidFill>
                <a:latin typeface="Yu Gothic"/>
              </a:rPr>
              <a:t>VCU更新制御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22576"/>
            <a:ext cx="1600200" cy="3840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B344B"/>
                </a:solidFill>
                <a:latin typeface="Yu Gothic"/>
              </a:rPr>
              <a:t>車両停止・順序・
対象ECUを管理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682496"/>
            <a:ext cx="19659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737360"/>
            <a:ext cx="1600200" cy="5029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B344B"/>
                </a:solidFill>
                <a:latin typeface="Yu Gothic"/>
              </a:rPr>
              <a:t>診断要求
DCM / OEM仕様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596896" y="2057400"/>
            <a:ext cx="301752" cy="338328"/>
          </a:xfrm>
          <a:prstGeom prst="line">
            <a:avLst/>
          </a:prstGeom>
          <a:ln w="21590">
            <a:solidFill>
              <a:srgbClr val="287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26080" y="2670048"/>
            <a:ext cx="1965960" cy="640080"/>
          </a:xfrm>
          <a:prstGeom prst="roundRect">
            <a:avLst>
              <a:gd name="adj" fmla="val 12000"/>
            </a:avLst>
          </a:prstGeom>
          <a:solidFill>
            <a:srgbClr val="FFF5E2"/>
          </a:solidFill>
          <a:ln w="12700">
            <a:solidFill>
              <a:srgbClr val="EBD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724912"/>
            <a:ext cx="1600200" cy="5029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B344B"/>
                </a:solidFill>
                <a:latin typeface="Yu Gothic"/>
              </a:rPr>
              <a:t>イメージ転送
診断/更新チャネル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96896" y="2395728"/>
            <a:ext cx="301752" cy="576072"/>
          </a:xfrm>
          <a:prstGeom prst="line">
            <a:avLst/>
          </a:prstGeom>
          <a:ln w="21590">
            <a:solidFill>
              <a:srgbClr val="B783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76088" y="1682496"/>
            <a:ext cx="3913632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2976" y="1847088"/>
            <a:ext cx="3401568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83F"/>
                </a:solidFill>
                <a:latin typeface="Yu Gothic"/>
              </a:rPr>
              <a:t>TARGET ECU｜Classic BSW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59552" y="2267712"/>
            <a:ext cx="3346704" cy="566928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F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2" y="2322576"/>
            <a:ext cx="2980944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47A58"/>
                </a:solidFill>
                <a:latin typeface="Yu Gothic"/>
              </a:rPr>
              <a:t>OEM FOTA / Reprogramming 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68112" y="3063240"/>
            <a:ext cx="1051560" cy="768096"/>
          </a:xfrm>
          <a:prstGeom prst="roundRect">
            <a:avLst>
              <a:gd name="adj" fmla="val 12000"/>
            </a:avLst>
          </a:prstGeom>
          <a:solidFill>
            <a:srgbClr val="EAF3F9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95544" y="3136392"/>
            <a:ext cx="996696" cy="2103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876A5"/>
                </a:solidFill>
                <a:latin typeface="Yu Gothic"/>
              </a:rPr>
              <a:t>Csm/Crypto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3401568"/>
            <a:ext cx="996696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2697D"/>
                </a:solidFill>
                <a:latin typeface="Yu Gothic"/>
              </a:rPr>
              <a:t>署名・hash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11112" y="3063240"/>
            <a:ext cx="1051560" cy="768096"/>
          </a:xfrm>
          <a:prstGeom prst="roundRect">
            <a:avLst>
              <a:gd name="adj" fmla="val 12000"/>
            </a:avLst>
          </a:prstGeom>
          <a:solidFill>
            <a:srgbClr val="EAF3F9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3136392"/>
            <a:ext cx="996696" cy="2103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876A5"/>
                </a:solidFill>
                <a:latin typeface="Yu Gothic"/>
              </a:rPr>
              <a:t>NvM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3401568"/>
            <a:ext cx="996696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2697D"/>
                </a:solidFill>
                <a:latin typeface="Yu Gothic"/>
              </a:rPr>
              <a:t>状態・trial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4112" y="3063240"/>
            <a:ext cx="1051560" cy="768096"/>
          </a:xfrm>
          <a:prstGeom prst="roundRect">
            <a:avLst>
              <a:gd name="adj" fmla="val 12000"/>
            </a:avLst>
          </a:prstGeom>
          <a:solidFill>
            <a:srgbClr val="EAF3F9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81544" y="3136392"/>
            <a:ext cx="996696" cy="2103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876A5"/>
                </a:solidFill>
                <a:latin typeface="Yu Gothic"/>
              </a:rPr>
              <a:t>MemIf/Fls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1544" y="3401568"/>
            <a:ext cx="996696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2697D"/>
                </a:solidFill>
                <a:latin typeface="Yu Gothic"/>
              </a:rPr>
              <a:t>消去・書込み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9488" y="1874519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0283F"/>
          </a:solidFill>
          <a:ln w="12700">
            <a:solidFill>
              <a:srgbClr val="1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2368" y="1984248"/>
            <a:ext cx="155448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Yu Gothic"/>
              </a:rPr>
              <a:t>Bootloader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2295144"/>
            <a:ext cx="1554480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D7E4ED"/>
                </a:solidFill>
                <a:latin typeface="Yu Gothic"/>
              </a:rPr>
              <a:t>Trial / Commit / Rollback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9208008" y="2441448"/>
            <a:ext cx="374904" cy="429768"/>
          </a:xfrm>
          <a:prstGeom prst="line">
            <a:avLst/>
          </a:prstGeom>
          <a:ln w="21590">
            <a:solidFill>
              <a:srgbClr val="B783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619488" y="3255264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02368" y="3374136"/>
            <a:ext cx="155448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283F"/>
                </a:solidFill>
                <a:latin typeface="Yu Gothic"/>
              </a:rPr>
              <a:t>Flash banks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3685032"/>
            <a:ext cx="1554480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2697D"/>
                </a:solidFill>
                <a:latin typeface="Yu Gothic"/>
              </a:rPr>
              <a:t>A/B領域・メタデータ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570464" y="2816352"/>
            <a:ext cx="0" cy="402336"/>
          </a:xfrm>
          <a:prstGeom prst="line">
            <a:avLst/>
          </a:prstGeom>
          <a:ln w="19050">
            <a:solidFill>
              <a:srgbClr val="B783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21792" y="4983480"/>
            <a:ext cx="10917936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5102352"/>
            <a:ext cx="182880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83F"/>
                </a:solidFill>
                <a:latin typeface="Yu Gothic"/>
              </a:rPr>
              <a:t>安全な状態遷移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148072"/>
            <a:ext cx="1399032" cy="62179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F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70632" y="5184648"/>
            <a:ext cx="1344168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47A58"/>
                </a:solidFill>
                <a:latin typeface="Yu Gothic"/>
              </a:rPr>
              <a:t>受信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70632" y="5449824"/>
            <a:ext cx="1344168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2697D"/>
                </a:solidFill>
                <a:latin typeface="Yu Gothic"/>
              </a:rPr>
              <a:t>DCM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60520" y="5458968"/>
            <a:ext cx="246888" cy="0"/>
          </a:xfrm>
          <a:prstGeom prst="line">
            <a:avLst/>
          </a:prstGeom>
          <a:ln w="15240">
            <a:solidFill>
              <a:srgbClr val="52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443984" y="5148072"/>
            <a:ext cx="1399032" cy="62179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F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71416" y="5184648"/>
            <a:ext cx="1344168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47A58"/>
                </a:solidFill>
                <a:latin typeface="Yu Gothic"/>
              </a:rPr>
              <a:t>検証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71416" y="5449824"/>
            <a:ext cx="1344168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2697D"/>
                </a:solidFill>
                <a:latin typeface="Yu Gothic"/>
              </a:rPr>
              <a:t>Csm + policy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861304" y="5458968"/>
            <a:ext cx="246888" cy="0"/>
          </a:xfrm>
          <a:prstGeom prst="line">
            <a:avLst/>
          </a:prstGeom>
          <a:ln w="15240">
            <a:solidFill>
              <a:srgbClr val="52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144768" y="5148072"/>
            <a:ext cx="1399032" cy="62179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F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5184648"/>
            <a:ext cx="1344168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47A58"/>
                </a:solidFill>
                <a:latin typeface="Yu Gothic"/>
              </a:rPr>
              <a:t>書込み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5449824"/>
            <a:ext cx="1344168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2697D"/>
                </a:solidFill>
                <a:latin typeface="Yu Gothic"/>
              </a:rPr>
              <a:t>MemIf/Fls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562088" y="5458968"/>
            <a:ext cx="246888" cy="0"/>
          </a:xfrm>
          <a:prstGeom prst="line">
            <a:avLst/>
          </a:prstGeom>
          <a:ln w="15240">
            <a:solidFill>
              <a:srgbClr val="52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845552" y="5148072"/>
            <a:ext cx="1399032" cy="621792"/>
          </a:xfrm>
          <a:prstGeom prst="roundRect">
            <a:avLst>
              <a:gd name="adj" fmla="val 12000"/>
            </a:avLst>
          </a:prstGeom>
          <a:solidFill>
            <a:srgbClr val="FFF5E2"/>
          </a:solidFill>
          <a:ln w="12700">
            <a:solidFill>
              <a:srgbClr val="EBD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72983" y="5184648"/>
            <a:ext cx="1344168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78324"/>
                </a:solidFill>
                <a:latin typeface="Yu Gothic"/>
              </a:rPr>
              <a:t>試行起動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72983" y="5449824"/>
            <a:ext cx="1344168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2697D"/>
                </a:solidFill>
                <a:latin typeface="Yu Gothic"/>
              </a:rPr>
              <a:t>Bootloader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262872" y="5458968"/>
            <a:ext cx="246888" cy="0"/>
          </a:xfrm>
          <a:prstGeom prst="line">
            <a:avLst/>
          </a:prstGeom>
          <a:ln w="15240">
            <a:solidFill>
              <a:srgbClr val="52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546336" y="5148072"/>
            <a:ext cx="1399032" cy="621792"/>
          </a:xfrm>
          <a:prstGeom prst="roundRect">
            <a:avLst>
              <a:gd name="adj" fmla="val 12000"/>
            </a:avLst>
          </a:prstGeom>
          <a:solidFill>
            <a:srgbClr val="FFF5E2"/>
          </a:solidFill>
          <a:ln w="12700">
            <a:solidFill>
              <a:srgbClr val="EBD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73768" y="5184648"/>
            <a:ext cx="1344168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78324"/>
                </a:solidFill>
                <a:latin typeface="Yu Gothic"/>
              </a:rPr>
              <a:t>確定/復帰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73768" y="5449824"/>
            <a:ext cx="1344168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2697D"/>
                </a:solidFill>
                <a:latin typeface="Yu Gothic"/>
              </a:rPr>
              <a:t>Health + Boot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83F"/>
          </a:solidFill>
          <a:ln w="12700">
            <a:solidFill>
              <a:srgbClr val="1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876A5"/>
                </a:solidFill>
                <a:latin typeface="Yu Gothic"/>
              </a:rPr>
              <a:t>03  VEHICLE 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83F"/>
                </a:solidFill>
                <a:latin typeface="Yu Gothic"/>
              </a:rPr>
              <a:t>車両を載せ替えた場合の差分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96696"/>
            <a:ext cx="10972800" cy="29260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97D"/>
                </a:solidFill>
                <a:latin typeface="Yu Gothic"/>
              </a:rPr>
              <a:t>再利用の単位はSW-Cのポート契約。RTE/BSW設定とECU依存部をvariantとして再統合する。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9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9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10241280" cy="16459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1869A"/>
                </a:solidFill>
                <a:latin typeface="Yu Gothic"/>
              </a:rPr>
              <a:t>SDV FOTA  |  AUTOSAR Classicを目標とした境界案  |  規格適合を表明するものではありません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37960"/>
            <a:ext cx="530352" cy="1737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69A"/>
                </a:solidFill>
                <a:latin typeface="Yu Gothic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64792"/>
            <a:ext cx="2834640" cy="438912"/>
          </a:xfrm>
          <a:prstGeom prst="rect">
            <a:avLst/>
          </a:prstGeom>
          <a:solidFill>
            <a:srgbClr val="10283F"/>
          </a:solidFill>
          <a:ln w="12700">
            <a:solidFill>
              <a:srgbClr val="1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1801368"/>
            <a:ext cx="2688336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</a:rPr>
              <a:t>変更シナリオ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764792"/>
            <a:ext cx="3401568" cy="438912"/>
          </a:xfrm>
          <a:prstGeom prst="rect">
            <a:avLst/>
          </a:prstGeom>
          <a:solidFill>
            <a:srgbClr val="347A58"/>
          </a:solidFill>
          <a:ln w="12700">
            <a:solidFill>
              <a:srgbClr val="3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801368"/>
            <a:ext cx="3255264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</a:rPr>
              <a:t>維持できる資産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9752" y="1764792"/>
            <a:ext cx="4389120" cy="438912"/>
          </a:xfrm>
          <a:prstGeom prst="rect">
            <a:avLst/>
          </a:prstGeom>
          <a:solidFill>
            <a:srgbClr val="B78324"/>
          </a:solidFill>
          <a:ln w="12700">
            <a:solidFill>
              <a:srgbClr val="B7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4" y="1801368"/>
            <a:ext cx="4242816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</a:rPr>
              <a:t>変更・再検証する資産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267712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40864"/>
            <a:ext cx="2578608" cy="8595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B344B"/>
                </a:solidFill>
                <a:latin typeface="Yu Gothic"/>
              </a:rPr>
              <a:t>同じECU / 別車両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2267712"/>
            <a:ext cx="3401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9896" y="2340864"/>
            <a:ext cx="3145536" cy="8595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47A58"/>
                </a:solidFill>
                <a:latin typeface="Yu Gothic"/>
              </a:rPr>
              <a:t>SW-C内部ロジック
ポート仕様が同じ範囲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9752" y="2267712"/>
            <a:ext cx="4389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2340864"/>
            <a:ext cx="4133087" cy="8595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78324"/>
                </a:solidFill>
                <a:latin typeface="Yu Gothic"/>
              </a:rPr>
              <a:t>ECU Extract、RTE生成設定、Com/診断設定、信号経路、校正、車両互換性表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319272"/>
            <a:ext cx="2834640" cy="1005840"/>
          </a:xfrm>
          <a:prstGeom prst="rect">
            <a:avLst/>
          </a:prstGeom>
          <a:solidFill>
            <a:srgbClr val="EEF3F6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392424"/>
            <a:ext cx="2578608" cy="8595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B344B"/>
                </a:solidFill>
                <a:latin typeface="Yu Gothic"/>
              </a:rPr>
              <a:t>同じSW-C / 別ECU HW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3319272"/>
            <a:ext cx="3401568" cy="1005840"/>
          </a:xfrm>
          <a:prstGeom prst="rect">
            <a:avLst/>
          </a:prstGeom>
          <a:solidFill>
            <a:srgbClr val="EEF3F6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9896" y="3392424"/>
            <a:ext cx="3145536" cy="8595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47A58"/>
                </a:solidFill>
                <a:latin typeface="Yu Gothic"/>
              </a:rPr>
              <a:t>標準RTE/BSW APIに依存する機能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9752" y="3319272"/>
            <a:ext cx="4389120" cy="1005840"/>
          </a:xfrm>
          <a:prstGeom prst="rect">
            <a:avLst/>
          </a:prstGeom>
          <a:solidFill>
            <a:srgbClr val="EEF3F6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7768" y="3392424"/>
            <a:ext cx="4133087" cy="8595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78324"/>
                </a:solidFill>
                <a:latin typeface="Yu Gothic"/>
              </a:rPr>
              <a:t>MCAL、ECU Abstraction、Fls/NvM設定、OS/タスク、メモリ配置、Bootloader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370831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443983"/>
            <a:ext cx="2578608" cy="8595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B344B"/>
                </a:solidFill>
                <a:latin typeface="Yu Gothic"/>
              </a:rPr>
              <a:t>別BSW vendor / release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4370831"/>
            <a:ext cx="3401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9896" y="4443983"/>
            <a:ext cx="3145536" cy="8595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47A58"/>
                </a:solidFill>
                <a:latin typeface="Yu Gothic"/>
              </a:rPr>
              <a:t>要求・状態遷移・データ契約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9752" y="4370831"/>
            <a:ext cx="4389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4443983"/>
            <a:ext cx="4133087" cy="8595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78324"/>
                </a:solidFill>
                <a:latin typeface="Yu Gothic"/>
              </a:rPr>
              <a:t>BSW API binding、生成設定、crypto/diagnostics/memory統合、適合・回帰試験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669280"/>
            <a:ext cx="10908792" cy="512064"/>
          </a:xfrm>
          <a:prstGeom prst="roundRect">
            <a:avLst>
              <a:gd name="adj" fmla="val 12000"/>
            </a:avLst>
          </a:prstGeom>
          <a:solidFill>
            <a:srgbClr val="EAF3F9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283F"/>
                </a:solidFill>
                <a:latin typeface="Yu Gothic"/>
              </a:rPr>
              <a:t>Pi 5上のLinux adapterを差し替えるだけでClassic ECUへ移行できるわけではない。Classic stack / MCAL / Bootloader製品に合わせた下位統合が必要。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83F"/>
          </a:solidFill>
          <a:ln w="12700">
            <a:solidFill>
              <a:srgbClr val="1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876A5"/>
                </a:solidFill>
                <a:latin typeface="Yu Gothic"/>
              </a:rPr>
              <a:t>04  IMPLEMENTATION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83F"/>
                </a:solidFill>
                <a:latin typeface="Yu Gothic"/>
              </a:rPr>
              <a:t>現行Rust PoCからClassic統合へ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96696"/>
            <a:ext cx="10972800" cy="29260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97D"/>
                </a:solidFill>
                <a:latin typeface="Yu Gothic"/>
              </a:rPr>
              <a:t>今ある抽象化は足場として活用し、Classic標準サービスとの接続・固定メモリ・生成設定へ段階的に寄せる。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9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9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47104"/>
            <a:ext cx="10241280" cy="16459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1869A"/>
                </a:solidFill>
                <a:latin typeface="Yu Gothic"/>
              </a:rPr>
              <a:t>SDV FOTA  |  AUTOSAR Classicを目標とした境界案  |  規格適合を表明するものではありません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37960"/>
            <a:ext cx="530352" cy="17373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69A"/>
                </a:solidFill>
                <a:latin typeface="Yu Gothic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37360"/>
            <a:ext cx="338328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83F"/>
                </a:solidFill>
                <a:latin typeface="Yu Gothic"/>
              </a:rPr>
              <a:t>現行コード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368296"/>
            <a:ext cx="2871216" cy="3401568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B344B"/>
                </a:solidFill>
                <a:latin typeface="Yu Gothic"/>
              </a:rPr>
              <a:t>sdv-core：独自SW-C/RTE
sdv-fota：独自Rust更新service
ImageStorage / BootControl：独自trait
linux.rs：ファイルA/B + CRC metadata
serde / String / Vec / alloc利用
Pi 5実機・AUTOSAR stack未接続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37360"/>
            <a:ext cx="3703320" cy="4434840"/>
          </a:xfrm>
          <a:prstGeom prst="roundRect">
            <a:avLst>
              <a:gd name="adj" fmla="val 12000"/>
            </a:avLst>
          </a:prstGeom>
          <a:solidFill>
            <a:srgbClr val="EAF3F9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920240"/>
            <a:ext cx="3200400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876A5"/>
                </a:solidFill>
                <a:latin typeface="Yu Gothic"/>
              </a:rPr>
              <a:t>Classicに向けた実装変更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237744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377440"/>
            <a:ext cx="310896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876A5"/>
                </a:solidFill>
                <a:latin typeface="Yu Gothi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359152"/>
            <a:ext cx="2743200" cy="4297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B344B"/>
                </a:solidFill>
                <a:latin typeface="Yu Gothic"/>
              </a:rPr>
              <a:t>SW-C/RTE契約と更新BSW責務を分離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45152" y="303580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035808"/>
            <a:ext cx="310896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876A5"/>
                </a:solidFill>
                <a:latin typeface="Yu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3017520"/>
            <a:ext cx="2743200" cy="4297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B344B"/>
                </a:solidFill>
                <a:latin typeface="Yu Gothic"/>
              </a:rPr>
              <a:t>FOTA coreを固定長buffer・no-heap化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369417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694176"/>
            <a:ext cx="310896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876A5"/>
                </a:solidFill>
                <a:latin typeface="Yu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3675888"/>
            <a:ext cx="2743200" cy="4297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B344B"/>
                </a:solidFill>
                <a:latin typeface="Yu Gothic"/>
              </a:rPr>
              <a:t>Crypto / NvM / Fls / Boot API境界を定義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45152" y="435254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352544"/>
            <a:ext cx="310896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876A5"/>
                </a:solidFill>
                <a:latin typeface="Yu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4334256"/>
            <a:ext cx="2743200" cy="4297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B344B"/>
                </a:solidFill>
                <a:latin typeface="Yu Gothic"/>
              </a:rPr>
              <a:t>Host Linux backendは開発専用に隔離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45152" y="5010912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010912"/>
            <a:ext cx="310896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876A5"/>
                </a:solidFill>
                <a:latin typeface="Yu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992624"/>
            <a:ext cx="2743200" cy="4297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B344B"/>
                </a:solidFill>
                <a:latin typeface="Yu Gothic"/>
              </a:rPr>
              <a:t>採用stack決定後にC API/生成設定へ接続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94776" y="1737360"/>
            <a:ext cx="3044952" cy="4434840"/>
          </a:xfrm>
          <a:prstGeom prst="roundRect">
            <a:avLst>
              <a:gd name="adj" fmla="val 12000"/>
            </a:avLst>
          </a:prstGeom>
          <a:solidFill>
            <a:srgbClr val="10283F"/>
          </a:solidFill>
          <a:ln w="12700">
            <a:solidFill>
              <a:srgbClr val="1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0808" y="1920240"/>
            <a:ext cx="2532888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</a:rPr>
              <a:t>先に決めること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69096" y="2395728"/>
            <a:ext cx="155448" cy="155448"/>
          </a:xfrm>
          <a:prstGeom prst="roundRect">
            <a:avLst>
              <a:gd name="adj" fmla="val 12000"/>
            </a:avLst>
          </a:prstGeom>
          <a:solidFill>
            <a:srgbClr val="8FB4CB"/>
          </a:solidFill>
          <a:ln w="12700">
            <a:solidFill>
              <a:srgbClr val="8F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2322576"/>
            <a:ext cx="2176272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7EFF5"/>
                </a:solidFill>
                <a:latin typeface="Yu Gothic"/>
              </a:rPr>
              <a:t>Classic stack / release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69096" y="2907792"/>
            <a:ext cx="155448" cy="155448"/>
          </a:xfrm>
          <a:prstGeom prst="roundRect">
            <a:avLst>
              <a:gd name="adj" fmla="val 12000"/>
            </a:avLst>
          </a:prstGeom>
          <a:solidFill>
            <a:srgbClr val="8FB4CB"/>
          </a:solidFill>
          <a:ln w="12700">
            <a:solidFill>
              <a:srgbClr val="8F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834640"/>
            <a:ext cx="2176272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7EFF5"/>
                </a:solidFill>
                <a:latin typeface="Yu Gothic"/>
              </a:rPr>
              <a:t>対象ECUとOS/MCU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69096" y="3419856"/>
            <a:ext cx="155448" cy="155448"/>
          </a:xfrm>
          <a:prstGeom prst="roundRect">
            <a:avLst>
              <a:gd name="adj" fmla="val 12000"/>
            </a:avLst>
          </a:prstGeom>
          <a:solidFill>
            <a:srgbClr val="8FB4CB"/>
          </a:solidFill>
          <a:ln w="12700">
            <a:solidFill>
              <a:srgbClr val="8F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3346704"/>
            <a:ext cx="2176272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7EFF5"/>
                </a:solidFill>
                <a:latin typeface="Yu Gothic"/>
              </a:rPr>
              <a:t>DCM reprogramming設計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69096" y="3931920"/>
            <a:ext cx="155448" cy="155448"/>
          </a:xfrm>
          <a:prstGeom prst="roundRect">
            <a:avLst>
              <a:gd name="adj" fmla="val 12000"/>
            </a:avLst>
          </a:prstGeom>
          <a:solidFill>
            <a:srgbClr val="8FB4CB"/>
          </a:solidFill>
          <a:ln w="12700">
            <a:solidFill>
              <a:srgbClr val="8F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0" y="3858768"/>
            <a:ext cx="2176272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7EFF5"/>
                </a:solidFill>
                <a:latin typeface="Yu Gothic"/>
              </a:rPr>
              <a:t>NvM / Flash / bank配置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69096" y="4443984"/>
            <a:ext cx="155448" cy="155448"/>
          </a:xfrm>
          <a:prstGeom prst="roundRect">
            <a:avLst>
              <a:gd name="adj" fmla="val 12000"/>
            </a:avLst>
          </a:prstGeom>
          <a:solidFill>
            <a:srgbClr val="8FB4CB"/>
          </a:solidFill>
          <a:ln w="12700">
            <a:solidFill>
              <a:srgbClr val="8F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4370832"/>
            <a:ext cx="2176272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7EFF5"/>
                </a:solidFill>
                <a:latin typeface="Yu Gothic"/>
              </a:rPr>
              <a:t>Bootloader責任境界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69096" y="4956048"/>
            <a:ext cx="155448" cy="155448"/>
          </a:xfrm>
          <a:prstGeom prst="roundRect">
            <a:avLst>
              <a:gd name="adj" fmla="val 12000"/>
            </a:avLst>
          </a:prstGeom>
          <a:solidFill>
            <a:srgbClr val="8FB4CB"/>
          </a:solidFill>
          <a:ln w="12700">
            <a:solidFill>
              <a:srgbClr val="8F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4882896"/>
            <a:ext cx="2176272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E7EFF5"/>
                </a:solidFill>
                <a:latin typeface="Yu Gothic"/>
              </a:rPr>
              <a:t>Pi 5をhostで使う範囲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